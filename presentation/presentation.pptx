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9049" y="-19050"/>
            <a:ext cx="12229794" cy="68960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782" y="476249"/>
            <a:ext cx="6667333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1">
                <a:solidFill>
                  <a:srgbClr val="0B0F1E"/>
                </a:solidFill>
                <a:latin typeface="Inter"/>
              </a:rPr>
              <a:t>INTELIGENTNE KASYNO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25" b="0">
                <a:solidFill>
                  <a:srgbClr val="64748B"/>
                </a:solidFill>
                <a:latin typeface="Inter"/>
              </a:rPr>
              <a:t>PITCH  /  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3" y="476249"/>
            <a:ext cx="483857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825" b="0">
                <a:solidFill>
                  <a:srgbClr val="64748B"/>
                </a:solidFill>
                <a:latin typeface="Inter"/>
              </a:rPr>
              <a:t>Projekt zespołowy · Inżynieria oprogramowania</a:t>
            </a:r>
          </a:p>
          <a:p>
            <a:pPr algn="r">
              <a:lnSpc>
                <a:spcPct val="140000"/>
              </a:lnSpc>
            </a:pPr>
            <a:r>
              <a:rPr sz="825" b="0">
                <a:solidFill>
                  <a:srgbClr val="64748B"/>
                </a:solidFill>
                <a:latin typeface="Inter"/>
              </a:rPr>
              <a:t>Czerwiec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782" y="2190749"/>
            <a:ext cx="857228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F46E5"/>
                </a:solidFill>
                <a:latin typeface="Inter"/>
              </a:rPr>
              <a:t>REINFORCEMENT LEARNING · GRY HAZARDOWE ONLINE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782" y="2571750"/>
            <a:ext cx="10286742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4050" b="1">
                <a:solidFill>
                  <a:srgbClr val="0B0F1E"/>
                </a:solidFill>
                <a:latin typeface="Inter"/>
              </a:rPr>
              <a:t>Kasyno, w którym grasz</a:t>
            </a:r>
          </a:p>
          <a:p>
            <a:pPr algn="l">
              <a:lnSpc>
                <a:spcPct val="104000"/>
              </a:lnSpc>
            </a:pPr>
            <a:r>
              <a:rPr sz="4050" b="1">
                <a:solidFill>
                  <a:srgbClr val="0B0F1E"/>
                </a:solidFill>
                <a:latin typeface="Inter"/>
              </a:rPr>
              <a:t>przeciwko agentom RL.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782" y="4476750"/>
            <a:ext cx="9334266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25" b="0">
                <a:solidFill>
                  <a:srgbClr val="1F293A"/>
                </a:solidFill>
                <a:latin typeface="Inter"/>
              </a:rPr>
              <a:t>Pełnowymiarowa platforma gier — blackjack, poker i ruletka — gdzie przeciwnikami są boty uczone metodami uczenia ze wzmocnieniem. Gra w czasie rzeczywistym, wirtualny portfel i płatności.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782" y="6191250"/>
            <a:ext cx="1047723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Inter"/>
              </a:rPr>
              <a:t>Inteligentne Kasyno · FastAPI + React · Q-Learning &amp; PPO · wdrożone na Render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9049" y="-19050"/>
            <a:ext cx="12229794" cy="68960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782" y="476249"/>
            <a:ext cx="6667333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1">
                <a:solidFill>
                  <a:srgbClr val="0B0F1E"/>
                </a:solidFill>
                <a:latin typeface="Inter"/>
              </a:rPr>
              <a:t>INTELIGENTNE KASYNO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25" b="1">
                <a:solidFill>
                  <a:srgbClr val="4F46E5"/>
                </a:solidFill>
                <a:latin typeface="Inter"/>
              </a:rPr>
              <a:t>01 /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3" y="476249"/>
            <a:ext cx="483857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825" b="0">
                <a:solidFill>
                  <a:srgbClr val="64748B"/>
                </a:solidFill>
                <a:latin typeface="Inter"/>
              </a:rPr>
              <a:t>Inteligentne Kasyno · Inżynieria oprogramowania</a:t>
            </a:r>
          </a:p>
          <a:p>
            <a:pPr algn="r">
              <a:lnSpc>
                <a:spcPct val="140000"/>
              </a:lnSpc>
            </a:pPr>
            <a:r>
              <a:rPr sz="825" b="0">
                <a:solidFill>
                  <a:srgbClr val="64748B"/>
                </a:solidFill>
                <a:latin typeface="Inter"/>
              </a:rPr>
              <a:t>Czerwiec 2026 · 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782" y="1428750"/>
            <a:ext cx="10477238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1">
                <a:solidFill>
                  <a:srgbClr val="0B0F1E"/>
                </a:solidFill>
                <a:latin typeface="Inter"/>
              </a:rPr>
              <a:t>Gry o niepełnej informacji to twardy problem.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782" y="2076449"/>
            <a:ext cx="9334266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Blackjack i poker to nie czysta logika — to decyzje pod niepewnością, z ukrytą informacją i losowością.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782" y="2762249"/>
            <a:ext cx="3441613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975" b="1">
                <a:solidFill>
                  <a:srgbClr val="4F46E5"/>
                </a:solidFill>
                <a:latin typeface="JetBrains Mono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75" b="1">
                <a:solidFill>
                  <a:srgbClr val="0B0F1E"/>
                </a:solidFill>
                <a:latin typeface="Inter"/>
              </a:rPr>
              <a:t>Ukryta informacja</a:t>
            </a:r>
          </a:p>
          <a:p>
            <a:pPr algn="l">
              <a:lnSpc>
                <a:spcPct val="145000"/>
              </a:lnSpc>
            </a:pPr>
            <a:r>
              <a:rPr sz="1012" b="0">
                <a:solidFill>
                  <a:srgbClr val="1F293A"/>
                </a:solidFill>
                <a:latin typeface="Inter"/>
              </a:rPr>
              <a:t>Karty przeciwnika i krupiera są zakryte. Decyzję podejmujesz na podstawie prawdopodobieństw, nie pewności.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75040" y="2762249"/>
            <a:ext cx="3441613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975" b="1">
                <a:solidFill>
                  <a:srgbClr val="4F46E5"/>
                </a:solidFill>
                <a:latin typeface="JetBrains Mono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75" b="1">
                <a:solidFill>
                  <a:srgbClr val="0B0F1E"/>
                </a:solidFill>
                <a:latin typeface="Inter"/>
              </a:rPr>
              <a:t>Losowość i wariancja</a:t>
            </a:r>
          </a:p>
          <a:p>
            <a:pPr algn="l">
              <a:lnSpc>
                <a:spcPct val="145000"/>
              </a:lnSpc>
            </a:pPr>
            <a:r>
              <a:rPr sz="1012" b="0">
                <a:solidFill>
                  <a:srgbClr val="1F293A"/>
                </a:solidFill>
                <a:latin typeface="Inter"/>
              </a:rPr>
              <a:t>Dobra decyzja może przegrać rundę. Jakość gry widać dopiero po wielu rozdaniach.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4298" y="2762249"/>
            <a:ext cx="3441613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975" b="1">
                <a:solidFill>
                  <a:srgbClr val="4F46E5"/>
                </a:solidFill>
                <a:latin typeface="JetBrains Mono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75" b="1">
                <a:solidFill>
                  <a:srgbClr val="0B0F1E"/>
                </a:solidFill>
                <a:latin typeface="Inter"/>
              </a:rPr>
              <a:t>Retencja gracza</a:t>
            </a:r>
          </a:p>
          <a:p>
            <a:pPr algn="l">
              <a:lnSpc>
                <a:spcPct val="145000"/>
              </a:lnSpc>
            </a:pPr>
            <a:r>
              <a:rPr sz="1012" b="0">
                <a:solidFill>
                  <a:srgbClr val="1F293A"/>
                </a:solidFill>
                <a:latin typeface="Inter"/>
              </a:rPr>
              <a:t>Kasyno musi być nie tylko sprawne, ale i wciągające — portfel, bonusy, płatności.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782" y="5143500"/>
            <a:ext cx="28574" cy="571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228" y="5143500"/>
            <a:ext cx="9620009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5" b="0">
                <a:solidFill>
                  <a:srgbClr val="1F293A"/>
                </a:solidFill>
                <a:latin typeface="Inter"/>
              </a:rPr>
              <a:t>Dlatego boty nie są skryptem „if-else”. To polityki uczone na symulowanych rozdaniach — z gradacją trudności.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782" y="6457950"/>
            <a:ext cx="571485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Inter"/>
              </a:rPr>
              <a:t>INTELIGENTNE KASYNO · PROJEKT ZESPOŁOWY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1055" y="6457950"/>
            <a:ext cx="571485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Inter"/>
              </a:rPr>
              <a:t>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9049" y="-19050"/>
            <a:ext cx="12229794" cy="68960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782" y="476249"/>
            <a:ext cx="6667333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1">
                <a:solidFill>
                  <a:srgbClr val="0B0F1E"/>
                </a:solidFill>
                <a:latin typeface="Inter"/>
              </a:rPr>
              <a:t>INTELIGENTNE KASYNO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25" b="1">
                <a:solidFill>
                  <a:srgbClr val="4F46E5"/>
                </a:solidFill>
                <a:latin typeface="Inter"/>
              </a:rPr>
              <a:t>02 / PRODUKT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3" y="476249"/>
            <a:ext cx="483857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825" b="0">
                <a:solidFill>
                  <a:srgbClr val="64748B"/>
                </a:solidFill>
                <a:latin typeface="Inter"/>
              </a:rPr>
              <a:t>Inteligentne Kasyno · Inżynieria oprogramowania</a:t>
            </a:r>
          </a:p>
          <a:p>
            <a:pPr algn="r">
              <a:lnSpc>
                <a:spcPct val="140000"/>
              </a:lnSpc>
            </a:pPr>
            <a:r>
              <a:rPr sz="825" b="0">
                <a:solidFill>
                  <a:srgbClr val="64748B"/>
                </a:solidFill>
                <a:latin typeface="Inter"/>
              </a:rPr>
              <a:t>Czerwiec 2026 · 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782" y="1428750"/>
            <a:ext cx="10477238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1">
                <a:solidFill>
                  <a:srgbClr val="0B0F1E"/>
                </a:solidFill>
                <a:latin typeface="Inter"/>
              </a:rPr>
              <a:t>Co zbudowaliśmy.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782" y="2076449"/>
            <a:ext cx="9334266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Webowa platforma kasyna z grą w czasie rzeczywistym przeciw agentom 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782" y="2762249"/>
            <a:ext cx="3441613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975" b="1">
                <a:solidFill>
                  <a:srgbClr val="4F46E5"/>
                </a:solidFill>
                <a:latin typeface="JetBrains Mono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75" b="1">
                <a:solidFill>
                  <a:srgbClr val="0B0F1E"/>
                </a:solidFill>
                <a:latin typeface="Inter"/>
              </a:rPr>
              <a:t>Trzy gry</a:t>
            </a:r>
          </a:p>
          <a:p>
            <a:pPr algn="l">
              <a:lnSpc>
                <a:spcPct val="145000"/>
              </a:lnSpc>
            </a:pPr>
            <a:r>
              <a:rPr sz="1012" b="0">
                <a:solidFill>
                  <a:srgbClr val="1F293A"/>
                </a:solidFill>
                <a:latin typeface="Inter"/>
              </a:rPr>
              <a:t>Blackjack, Texas Hold'em i ruletka europejska — stoły solo i wieloosobowe.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75040" y="2762249"/>
            <a:ext cx="3441613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975" b="1">
                <a:solidFill>
                  <a:srgbClr val="4F46E5"/>
                </a:solidFill>
                <a:latin typeface="JetBrains Mono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75" b="1">
                <a:solidFill>
                  <a:srgbClr val="0B0F1E"/>
                </a:solidFill>
                <a:latin typeface="Inter"/>
              </a:rPr>
              <a:t>Przeciwnicy AI</a:t>
            </a:r>
          </a:p>
          <a:p>
            <a:pPr algn="l">
              <a:lnSpc>
                <a:spcPct val="145000"/>
              </a:lnSpc>
            </a:pPr>
            <a:r>
              <a:rPr sz="1012" b="0">
                <a:solidFill>
                  <a:srgbClr val="1F293A"/>
                </a:solidFill>
                <a:latin typeface="Inter"/>
              </a:rPr>
              <a:t>Boty na trzech poziomach trudności, od losowych po uczone głęboko (PPO).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4298" y="2762249"/>
            <a:ext cx="3441613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975" b="1">
                <a:solidFill>
                  <a:srgbClr val="4F46E5"/>
                </a:solidFill>
                <a:latin typeface="JetBrains Mono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75" b="1">
                <a:solidFill>
                  <a:srgbClr val="0B0F1E"/>
                </a:solidFill>
                <a:latin typeface="Inter"/>
              </a:rPr>
              <a:t>Pełny portfel</a:t>
            </a:r>
          </a:p>
          <a:p>
            <a:pPr algn="l">
              <a:lnSpc>
                <a:spcPct val="145000"/>
              </a:lnSpc>
            </a:pPr>
            <a:r>
              <a:rPr sz="1012" b="0">
                <a:solidFill>
                  <a:srgbClr val="1F293A"/>
                </a:solidFill>
                <a:latin typeface="Inter"/>
              </a:rPr>
              <a:t>Rejestracja, wirtualne żetony, historia transakcji i płatności Stripe.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782" y="5143500"/>
            <a:ext cx="28574" cy="571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228" y="5143500"/>
            <a:ext cx="9620009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5" b="0">
                <a:solidFill>
                  <a:srgbClr val="1F293A"/>
                </a:solidFill>
                <a:latin typeface="Inter"/>
              </a:rPr>
              <a:t>Frontend React + nginx, backend FastAPI, stan na żywo w Redisie — wszystko w Dockerze, wdrożone w chmurze.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782" y="6457950"/>
            <a:ext cx="571485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Inter"/>
              </a:rPr>
              <a:t>INTELIGENTNE KASYNO · PROJEKT ZESPOŁOWY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1055" y="6457950"/>
            <a:ext cx="571485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Inter"/>
              </a:rPr>
              <a:t>CO ZBUDOWALIŚMY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9049" y="-19050"/>
            <a:ext cx="12229794" cy="68960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782" y="476249"/>
            <a:ext cx="6667333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1">
                <a:solidFill>
                  <a:srgbClr val="0B0F1E"/>
                </a:solidFill>
                <a:latin typeface="Inter"/>
              </a:rPr>
              <a:t>INTELIGENTNE KASYNO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25" b="1">
                <a:solidFill>
                  <a:srgbClr val="4F46E5"/>
                </a:solidFill>
                <a:latin typeface="Inter"/>
              </a:rPr>
              <a:t>03 / ARCHITEKTURA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3" y="476249"/>
            <a:ext cx="483857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825" b="0">
                <a:solidFill>
                  <a:srgbClr val="64748B"/>
                </a:solidFill>
                <a:latin typeface="Inter"/>
              </a:rPr>
              <a:t>Inteligentne Kasyno · Inżynieria oprogramowania</a:t>
            </a:r>
          </a:p>
          <a:p>
            <a:pPr algn="r">
              <a:lnSpc>
                <a:spcPct val="140000"/>
              </a:lnSpc>
            </a:pPr>
            <a:r>
              <a:rPr sz="825" b="0">
                <a:solidFill>
                  <a:srgbClr val="64748B"/>
                </a:solidFill>
                <a:latin typeface="Inter"/>
              </a:rPr>
              <a:t>Czerwiec 2026 · 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782" y="1428750"/>
            <a:ext cx="10477238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1">
                <a:solidFill>
                  <a:srgbClr val="0B0F1E"/>
                </a:solidFill>
                <a:latin typeface="Inter"/>
              </a:rPr>
              <a:t>Jedna pętla: akcja → stan → ruch bota → wynik.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782" y="2076449"/>
            <a:ext cx="9334266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Logika gier (engine) jest odseparowana od warstwy webowej — Clean Architecture.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782" y="2857500"/>
            <a:ext cx="1950671" cy="1428750"/>
          </a:xfrm>
          <a:prstGeom prst="roundRect">
            <a:avLst>
              <a:gd name="adj" fmla="val 10000"/>
            </a:avLst>
          </a:prstGeom>
          <a:solidFill>
            <a:srgbClr val="F7F8FB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9129" y="3009900"/>
            <a:ext cx="1683977" cy="1162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25" b="1">
                <a:solidFill>
                  <a:srgbClr val="4F46E5"/>
                </a:solidFill>
                <a:latin typeface="JetBrains Mono"/>
              </a:rPr>
              <a:t>01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>
                <a:solidFill>
                  <a:srgbClr val="0B0F1E"/>
                </a:solidFill>
                <a:latin typeface="Inter"/>
              </a:rPr>
              <a:t>Klient</a:t>
            </a:r>
          </a:p>
          <a:p>
            <a:pPr algn="l">
              <a:lnSpc>
                <a:spcPct val="135000"/>
              </a:lnSpc>
            </a:pPr>
            <a:r>
              <a:rPr sz="825" b="0">
                <a:solidFill>
                  <a:srgbClr val="64748B"/>
                </a:solidFill>
                <a:latin typeface="Inter"/>
              </a:rPr>
              <a:t>React + TS · HTTP + WebSocket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6454" y="2857500"/>
            <a:ext cx="266693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F46E5"/>
                </a:solidFill>
                <a:latin typeface="Inter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3147" y="2857500"/>
            <a:ext cx="1950671" cy="1428750"/>
          </a:xfrm>
          <a:prstGeom prst="roundRect">
            <a:avLst>
              <a:gd name="adj" fmla="val 10000"/>
            </a:avLst>
          </a:prstGeom>
          <a:solidFill>
            <a:srgbClr val="F7F8FB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6494" y="3009900"/>
            <a:ext cx="1683977" cy="1162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25" b="1">
                <a:solidFill>
                  <a:srgbClr val="4F46E5"/>
                </a:solidFill>
                <a:latin typeface="JetBrains Mono"/>
              </a:rPr>
              <a:t>02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>
                <a:solidFill>
                  <a:srgbClr val="0B0F1E"/>
                </a:solidFill>
                <a:latin typeface="Inter"/>
              </a:rPr>
              <a:t>FastAPI</a:t>
            </a:r>
          </a:p>
          <a:p>
            <a:pPr algn="l">
              <a:lnSpc>
                <a:spcPct val="135000"/>
              </a:lnSpc>
            </a:pPr>
            <a:r>
              <a:rPr sz="825" b="0">
                <a:solidFill>
                  <a:srgbClr val="64748B"/>
                </a:solidFill>
                <a:latin typeface="Inter"/>
              </a:rPr>
              <a:t>REST + WS · autoryzacja JWT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3818" y="2857500"/>
            <a:ext cx="266693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F46E5"/>
                </a:solidFill>
                <a:latin typeface="Inter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511" y="2857500"/>
            <a:ext cx="1950671" cy="1428750"/>
          </a:xfrm>
          <a:prstGeom prst="roundRect">
            <a:avLst>
              <a:gd name="adj" fmla="val 10000"/>
            </a:avLst>
          </a:prstGeom>
          <a:solidFill>
            <a:srgbClr val="F7F8FB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3858" y="3009900"/>
            <a:ext cx="1683977" cy="1162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25" b="1">
                <a:solidFill>
                  <a:srgbClr val="4F46E5"/>
                </a:solidFill>
                <a:latin typeface="JetBrains Mono"/>
              </a:rPr>
              <a:t>03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>
                <a:solidFill>
                  <a:srgbClr val="0B0F1E"/>
                </a:solidFill>
                <a:latin typeface="Inter"/>
              </a:rPr>
              <a:t>Serwisy</a:t>
            </a:r>
          </a:p>
          <a:p>
            <a:pPr algn="l">
              <a:lnSpc>
                <a:spcPct val="135000"/>
              </a:lnSpc>
            </a:pPr>
            <a:r>
              <a:rPr sz="825" b="0">
                <a:solidFill>
                  <a:srgbClr val="64748B"/>
                </a:solidFill>
                <a:latin typeface="Inter"/>
              </a:rPr>
              <a:t>Silnik gry · obsługa rundy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1183" y="2857500"/>
            <a:ext cx="266693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F46E5"/>
                </a:solidFill>
                <a:latin typeface="Inter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37876" y="2857500"/>
            <a:ext cx="1950671" cy="1428750"/>
          </a:xfrm>
          <a:prstGeom prst="roundRect">
            <a:avLst>
              <a:gd name="adj" fmla="val 10000"/>
            </a:avLst>
          </a:prstGeom>
          <a:solidFill>
            <a:srgbClr val="F7F8FB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1223" y="3009900"/>
            <a:ext cx="1683977" cy="1162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25" b="1">
                <a:solidFill>
                  <a:srgbClr val="4F46E5"/>
                </a:solidFill>
                <a:latin typeface="JetBrains Mono"/>
              </a:rPr>
              <a:t>04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>
                <a:solidFill>
                  <a:srgbClr val="0B0F1E"/>
                </a:solidFill>
                <a:latin typeface="Inter"/>
              </a:rPr>
              <a:t>Redis / PG</a:t>
            </a:r>
          </a:p>
          <a:p>
            <a:pPr algn="l">
              <a:lnSpc>
                <a:spcPct val="135000"/>
              </a:lnSpc>
            </a:pPr>
            <a:r>
              <a:rPr sz="825" b="0">
                <a:solidFill>
                  <a:srgbClr val="64748B"/>
                </a:solidFill>
                <a:latin typeface="Inter"/>
              </a:rPr>
              <a:t>Gorący stan O(1) · dane ACID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8547" y="2857500"/>
            <a:ext cx="266693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F46E5"/>
                </a:solidFill>
                <a:latin typeface="Inter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55241" y="2857500"/>
            <a:ext cx="1950671" cy="1428750"/>
          </a:xfrm>
          <a:prstGeom prst="roundRect">
            <a:avLst>
              <a:gd name="adj" fmla="val 10000"/>
            </a:avLst>
          </a:prstGeom>
          <a:solidFill>
            <a:srgbClr val="F7F8FB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88587" y="3009900"/>
            <a:ext cx="1683977" cy="1162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25" b="1">
                <a:solidFill>
                  <a:srgbClr val="4F46E5"/>
                </a:solidFill>
                <a:latin typeface="JetBrains Mono"/>
              </a:rPr>
              <a:t>05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>
                <a:solidFill>
                  <a:srgbClr val="0B0F1E"/>
                </a:solidFill>
                <a:latin typeface="Inter"/>
              </a:rPr>
              <a:t>Modele RL</a:t>
            </a:r>
          </a:p>
          <a:p>
            <a:pPr algn="l">
              <a:lnSpc>
                <a:spcPct val="135000"/>
              </a:lnSpc>
            </a:pPr>
            <a:r>
              <a:rPr sz="825" b="0">
                <a:solidFill>
                  <a:srgbClr val="64748B"/>
                </a:solidFill>
                <a:latin typeface="Inter"/>
              </a:rPr>
              <a:t>Inferencja ruchu bota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782" y="4762500"/>
            <a:ext cx="28574" cy="571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228" y="4762500"/>
            <a:ext cx="9620009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5" b="0">
                <a:solidFill>
                  <a:srgbClr val="1F293A"/>
                </a:solidFill>
                <a:latin typeface="Inter"/>
              </a:rPr>
              <a:t>Redis trzyma „gorący” stan aktywnych stołów, by nie obciążać PostgreSQL przy każdym ruchu; Postgres trzyma konta, portfele i historię.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782" y="6457950"/>
            <a:ext cx="571485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Inter"/>
              </a:rPr>
              <a:t>INTELIGENTNE KASYNO · PROJEKT ZESPOŁOWY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1055" y="6457950"/>
            <a:ext cx="571485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Inter"/>
              </a:rPr>
              <a:t>ARCHITEKTURA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9049" y="-19050"/>
            <a:ext cx="12229794" cy="68960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782" y="476249"/>
            <a:ext cx="6667333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1">
                <a:solidFill>
                  <a:srgbClr val="0B0F1E"/>
                </a:solidFill>
                <a:latin typeface="Inter"/>
              </a:rPr>
              <a:t>INTELIGENTNE KASYNO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25" b="1">
                <a:solidFill>
                  <a:srgbClr val="4F46E5"/>
                </a:solidFill>
                <a:latin typeface="Inter"/>
              </a:rPr>
              <a:t>04 / TECHNOLOGIA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3" y="476249"/>
            <a:ext cx="483857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825" b="0">
                <a:solidFill>
                  <a:srgbClr val="64748B"/>
                </a:solidFill>
                <a:latin typeface="Inter"/>
              </a:rPr>
              <a:t>Inteligentne Kasyno · Inżynieria oprogramowania</a:t>
            </a:r>
          </a:p>
          <a:p>
            <a:pPr algn="r">
              <a:lnSpc>
                <a:spcPct val="140000"/>
              </a:lnSpc>
            </a:pPr>
            <a:r>
              <a:rPr sz="825" b="0">
                <a:solidFill>
                  <a:srgbClr val="64748B"/>
                </a:solidFill>
                <a:latin typeface="Inter"/>
              </a:rPr>
              <a:t>Czerwiec 2026 · 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782" y="1428750"/>
            <a:ext cx="10477238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1">
                <a:solidFill>
                  <a:srgbClr val="0B0F1E"/>
                </a:solidFill>
                <a:latin typeface="Inter"/>
              </a:rPr>
              <a:t>Stos technologiczny.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782" y="2381250"/>
            <a:ext cx="2519299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975" b="1">
                <a:solidFill>
                  <a:srgbClr val="4F46E5"/>
                </a:solidFill>
                <a:latin typeface="JetBrains Mono"/>
              </a:rPr>
              <a:t>BE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75" b="1">
                <a:solidFill>
                  <a:srgbClr val="0B0F1E"/>
                </a:solidFill>
                <a:latin typeface="Inter"/>
              </a:rPr>
              <a:t>Backend</a:t>
            </a:r>
          </a:p>
          <a:p>
            <a:pPr algn="l">
              <a:lnSpc>
                <a:spcPct val="145000"/>
              </a:lnSpc>
            </a:pPr>
            <a:r>
              <a:rPr sz="1012" b="0">
                <a:solidFill>
                  <a:srgbClr val="1F293A"/>
                </a:solidFill>
                <a:latin typeface="Inter"/>
              </a:rPr>
              <a:t>FastAPI (async), Python 3.11, Pydantic v2, SQLAlchemy + asyncpg, Alembic.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52726" y="2381250"/>
            <a:ext cx="2519299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975" b="1">
                <a:solidFill>
                  <a:srgbClr val="4F46E5"/>
                </a:solidFill>
                <a:latin typeface="JetBrains Mono"/>
              </a:rPr>
              <a:t>DB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75" b="1">
                <a:solidFill>
                  <a:srgbClr val="0B0F1E"/>
                </a:solidFill>
                <a:latin typeface="Inter"/>
              </a:rPr>
              <a:t>Dane</a:t>
            </a:r>
          </a:p>
          <a:p>
            <a:pPr algn="l">
              <a:lnSpc>
                <a:spcPct val="145000"/>
              </a:lnSpc>
            </a:pPr>
            <a:r>
              <a:rPr sz="1012" b="0">
                <a:solidFill>
                  <a:srgbClr val="1F293A"/>
                </a:solidFill>
                <a:latin typeface="Inter"/>
              </a:rPr>
              <a:t>PostgreSQL (ACID) na konta i portfele, Redis na stan stołów.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9669" y="2381250"/>
            <a:ext cx="2519299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975" b="1">
                <a:solidFill>
                  <a:srgbClr val="4F46E5"/>
                </a:solidFill>
                <a:latin typeface="JetBrains Mono"/>
              </a:rPr>
              <a:t>FE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75" b="1">
                <a:solidFill>
                  <a:srgbClr val="0B0F1E"/>
                </a:solidFill>
                <a:latin typeface="Inter"/>
              </a:rPr>
              <a:t>Frontend</a:t>
            </a:r>
          </a:p>
          <a:p>
            <a:pPr algn="l">
              <a:lnSpc>
                <a:spcPct val="145000"/>
              </a:lnSpc>
            </a:pPr>
            <a:r>
              <a:rPr sz="1012" b="0">
                <a:solidFill>
                  <a:srgbClr val="1F293A"/>
                </a:solidFill>
                <a:latin typeface="Inter"/>
              </a:rPr>
              <a:t>React + TypeScript + Vite, serwowane przez nginx (proxy /api i /ws).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6612" y="2381250"/>
            <a:ext cx="2519299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975" b="1">
                <a:solidFill>
                  <a:srgbClr val="4F46E5"/>
                </a:solidFill>
                <a:latin typeface="JetBrains Mono"/>
              </a:rPr>
              <a:t>AI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75" b="1">
                <a:solidFill>
                  <a:srgbClr val="0B0F1E"/>
                </a:solidFill>
                <a:latin typeface="Inter"/>
              </a:rPr>
              <a:t>AI / RL</a:t>
            </a:r>
          </a:p>
          <a:p>
            <a:pPr algn="l">
              <a:lnSpc>
                <a:spcPct val="145000"/>
              </a:lnSpc>
            </a:pPr>
            <a:r>
              <a:rPr sz="1012" b="0">
                <a:solidFill>
                  <a:srgbClr val="1F293A"/>
                </a:solidFill>
                <a:latin typeface="Inter"/>
              </a:rPr>
              <a:t>Q-Learning (tabela) i PPO/DQN (Stable-Baselines3 + PyTorch).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782" y="5143500"/>
            <a:ext cx="28574" cy="571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228" y="5143500"/>
            <a:ext cx="9620009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5" b="0">
                <a:solidFill>
                  <a:srgbClr val="1F293A"/>
                </a:solidFill>
                <a:latin typeface="Inter"/>
              </a:rPr>
              <a:t>WebSockets dają komunikację w czasie rzeczywistym; Stripe Checkout obsługuje płatności.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782" y="6457950"/>
            <a:ext cx="571485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Inter"/>
              </a:rPr>
              <a:t>INTELIGENTNE KASYNO · PROJEKT ZESPOŁOWY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1055" y="6457950"/>
            <a:ext cx="571485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Inter"/>
              </a:rPr>
              <a:t>STOS TECHNOLOGICZNY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9049" y="-19050"/>
            <a:ext cx="12229794" cy="68960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782" y="476249"/>
            <a:ext cx="6667333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1">
                <a:solidFill>
                  <a:srgbClr val="0B0F1E"/>
                </a:solidFill>
                <a:latin typeface="Inter"/>
              </a:rPr>
              <a:t>INTELIGENTNE KASYNO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25" b="1">
                <a:solidFill>
                  <a:srgbClr val="4F46E5"/>
                </a:solidFill>
                <a:latin typeface="Inter"/>
              </a:rPr>
              <a:t>05 / GRY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3" y="476249"/>
            <a:ext cx="483857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825" b="0">
                <a:solidFill>
                  <a:srgbClr val="64748B"/>
                </a:solidFill>
                <a:latin typeface="Inter"/>
              </a:rPr>
              <a:t>Inteligentne Kasyno · Inżynieria oprogramowania</a:t>
            </a:r>
          </a:p>
          <a:p>
            <a:pPr algn="r">
              <a:lnSpc>
                <a:spcPct val="140000"/>
              </a:lnSpc>
            </a:pPr>
            <a:r>
              <a:rPr sz="825" b="0">
                <a:solidFill>
                  <a:srgbClr val="64748B"/>
                </a:solidFill>
                <a:latin typeface="Inter"/>
              </a:rPr>
              <a:t>Czerwiec 2026 · 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782" y="1428750"/>
            <a:ext cx="10477238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1">
                <a:solidFill>
                  <a:srgbClr val="0B0F1E"/>
                </a:solidFill>
                <a:latin typeface="Inter"/>
              </a:rPr>
              <a:t>Trzy gry, jeden silnik.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782" y="2381250"/>
            <a:ext cx="3416214" cy="2238375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377" y="2590799"/>
            <a:ext cx="2959026" cy="1857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825" b="1">
                <a:solidFill>
                  <a:srgbClr val="4F46E5"/>
                </a:solidFill>
                <a:latin typeface="Inter"/>
              </a:rPr>
              <a:t>BLACKJACK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12" b="1">
                <a:solidFill>
                  <a:srgbClr val="4F46E5"/>
                </a:solidFill>
                <a:latin typeface="Inter"/>
              </a:rPr>
              <a:t>·  </a:t>
            </a:r>
            <a:r>
              <a:rPr sz="1012" b="0">
                <a:solidFill>
                  <a:srgbClr val="1F293A"/>
                </a:solidFill>
                <a:latin typeface="Inter"/>
              </a:rPr>
              <a:t>Stoły solo i wieloosobowe z botami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12" b="1">
                <a:solidFill>
                  <a:srgbClr val="4F46E5"/>
                </a:solidFill>
                <a:latin typeface="Inter"/>
              </a:rPr>
              <a:t>·  </a:t>
            </a:r>
            <a:r>
              <a:rPr sz="1012" b="0">
                <a:solidFill>
                  <a:srgbClr val="1F293A"/>
                </a:solidFill>
                <a:latin typeface="Inter"/>
              </a:rPr>
              <a:t>Pełne zasady: krupier, podział, dobór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12" b="1">
                <a:solidFill>
                  <a:srgbClr val="4F46E5"/>
                </a:solidFill>
                <a:latin typeface="Inter"/>
              </a:rPr>
              <a:t>·  </a:t>
            </a:r>
            <a:r>
              <a:rPr sz="1012" b="0">
                <a:solidFill>
                  <a:srgbClr val="1F293A"/>
                </a:solidFill>
                <a:latin typeface="Inter"/>
              </a:rPr>
              <a:t>Boty od losowych po Q-Learning / PPO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7740" y="2381250"/>
            <a:ext cx="3416214" cy="2238375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6334" y="2590799"/>
            <a:ext cx="2959026" cy="1857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825" b="1">
                <a:solidFill>
                  <a:srgbClr val="4F46E5"/>
                </a:solidFill>
                <a:latin typeface="Inter"/>
              </a:rPr>
              <a:t>TEXAS HOLD'EM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12" b="1">
                <a:solidFill>
                  <a:srgbClr val="4F46E5"/>
                </a:solidFill>
                <a:latin typeface="Inter"/>
              </a:rPr>
              <a:t>·  </a:t>
            </a:r>
            <a:r>
              <a:rPr sz="1012" b="0">
                <a:solidFill>
                  <a:srgbClr val="1F293A"/>
                </a:solidFill>
                <a:latin typeface="Inter"/>
              </a:rPr>
              <a:t>Stół 6-osobowy: blindy, fazy, showdown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12" b="1">
                <a:solidFill>
                  <a:srgbClr val="4F46E5"/>
                </a:solidFill>
                <a:latin typeface="Inter"/>
              </a:rPr>
              <a:t>·  </a:t>
            </a:r>
            <a:r>
              <a:rPr sz="1012" b="0">
                <a:solidFill>
                  <a:srgbClr val="1F293A"/>
                </a:solidFill>
                <a:latin typeface="Inter"/>
              </a:rPr>
              <a:t>Stan rundy w czasie rzeczywistym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12" b="1">
                <a:solidFill>
                  <a:srgbClr val="4F46E5"/>
                </a:solidFill>
                <a:latin typeface="Inter"/>
              </a:rPr>
              <a:t>·  </a:t>
            </a:r>
            <a:r>
              <a:rPr sz="1012" b="0">
                <a:solidFill>
                  <a:srgbClr val="1F293A"/>
                </a:solidFill>
                <a:latin typeface="Inter"/>
              </a:rPr>
              <a:t>Boty od luźnego callera po politykę PPO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9697" y="2381250"/>
            <a:ext cx="3416214" cy="2238375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8292" y="2590799"/>
            <a:ext cx="2959026" cy="1857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825" b="1">
                <a:solidFill>
                  <a:srgbClr val="4F46E5"/>
                </a:solidFill>
                <a:latin typeface="Inter"/>
              </a:rPr>
              <a:t>RULETKA EUROPEJSKA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12" b="1">
                <a:solidFill>
                  <a:srgbClr val="4F46E5"/>
                </a:solidFill>
                <a:latin typeface="Inter"/>
              </a:rPr>
              <a:t>·  </a:t>
            </a:r>
            <a:r>
              <a:rPr sz="1012" b="0">
                <a:solidFill>
                  <a:srgbClr val="1F293A"/>
                </a:solidFill>
                <a:latin typeface="Inter"/>
              </a:rPr>
              <a:t>37 numerów, zasady europejskie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12" b="1">
                <a:solidFill>
                  <a:srgbClr val="4F46E5"/>
                </a:solidFill>
                <a:latin typeface="Inter"/>
              </a:rPr>
              <a:t>·  </a:t>
            </a:r>
            <a:r>
              <a:rPr sz="1012" b="0">
                <a:solidFill>
                  <a:srgbClr val="1F293A"/>
                </a:solidFill>
                <a:latin typeface="Inter"/>
              </a:rPr>
              <a:t>Czysta gra losowa — zakłady i koło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12" b="1">
                <a:solidFill>
                  <a:srgbClr val="4F46E5"/>
                </a:solidFill>
                <a:latin typeface="Inter"/>
              </a:rPr>
              <a:t>·  </a:t>
            </a:r>
            <a:r>
              <a:rPr sz="1012" b="0">
                <a:solidFill>
                  <a:srgbClr val="1F293A"/>
                </a:solidFill>
                <a:latin typeface="Inter"/>
              </a:rPr>
              <a:t>Poziom trudności jej nie zmienia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782" y="4857750"/>
            <a:ext cx="28574" cy="571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228" y="4857750"/>
            <a:ext cx="9620009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5" b="0">
                <a:solidFill>
                  <a:srgbClr val="1F293A"/>
                </a:solidFill>
                <a:latin typeface="Inter"/>
              </a:rPr>
              <a:t>Czysta logika gier żyje w /engine, niezależna od API i bazy — łatwa do testów i trenowania.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782" y="6457950"/>
            <a:ext cx="571485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Inter"/>
              </a:rPr>
              <a:t>INTELIGENTNE KASYNO · PROJEKT ZESPOŁOWY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1055" y="6457950"/>
            <a:ext cx="571485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Inter"/>
              </a:rPr>
              <a:t>GRY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9049" y="-19050"/>
            <a:ext cx="12229794" cy="68960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782" y="476249"/>
            <a:ext cx="6667333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1">
                <a:solidFill>
                  <a:srgbClr val="0B0F1E"/>
                </a:solidFill>
                <a:latin typeface="Inter"/>
              </a:rPr>
              <a:t>INTELIGENTNE KASYNO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25" b="1">
                <a:solidFill>
                  <a:srgbClr val="4F46E5"/>
                </a:solidFill>
                <a:latin typeface="Inter"/>
              </a:rPr>
              <a:t>06 / PRZECIWNIK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3" y="476249"/>
            <a:ext cx="483857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825" b="0">
                <a:solidFill>
                  <a:srgbClr val="64748B"/>
                </a:solidFill>
                <a:latin typeface="Inter"/>
              </a:rPr>
              <a:t>Inteligentne Kasyno · Inżynieria oprogramowania</a:t>
            </a:r>
          </a:p>
          <a:p>
            <a:pPr algn="r">
              <a:lnSpc>
                <a:spcPct val="140000"/>
              </a:lnSpc>
            </a:pPr>
            <a:r>
              <a:rPr sz="825" b="0">
                <a:solidFill>
                  <a:srgbClr val="64748B"/>
                </a:solidFill>
                <a:latin typeface="Inter"/>
              </a:rPr>
              <a:t>Czerwiec 2026 · 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782" y="1428750"/>
            <a:ext cx="10477238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1">
                <a:solidFill>
                  <a:srgbClr val="0B0F1E"/>
                </a:solidFill>
                <a:latin typeface="Inter"/>
              </a:rPr>
              <a:t>Trzy poziomy trudności przeciwnika.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782" y="2076449"/>
            <a:ext cx="9334266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Ta sama gra, inna polityka bota — wybierana w locie z rejestru.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782" y="2762249"/>
            <a:ext cx="3441613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975" b="1">
                <a:solidFill>
                  <a:srgbClr val="4F46E5"/>
                </a:solidFill>
                <a:latin typeface="JetBrains Mono"/>
              </a:rPr>
              <a:t>EASY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75" b="1">
                <a:solidFill>
                  <a:srgbClr val="0B0F1E"/>
                </a:solidFill>
                <a:latin typeface="Inter"/>
              </a:rPr>
              <a:t>Losowy</a:t>
            </a:r>
          </a:p>
          <a:p>
            <a:pPr algn="l">
              <a:lnSpc>
                <a:spcPct val="145000"/>
              </a:lnSpc>
            </a:pPr>
            <a:r>
              <a:rPr sz="1012" b="0">
                <a:solidFill>
                  <a:srgbClr val="1F293A"/>
                </a:solidFill>
                <a:latin typeface="Inter"/>
              </a:rPr>
              <a:t>Losowe legalne ruchy. Dla początkujących i do testów.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75040" y="2762249"/>
            <a:ext cx="3441613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975" b="1">
                <a:solidFill>
                  <a:srgbClr val="4F46E5"/>
                </a:solidFill>
                <a:latin typeface="JetBrains Mono"/>
              </a:rPr>
              <a:t>MEDIUM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75" b="1">
                <a:solidFill>
                  <a:srgbClr val="0B0F1E"/>
                </a:solidFill>
                <a:latin typeface="Inter"/>
              </a:rPr>
              <a:t>Heurystyka</a:t>
            </a:r>
          </a:p>
          <a:p>
            <a:pPr algn="l">
              <a:lnSpc>
                <a:spcPct val="145000"/>
              </a:lnSpc>
            </a:pPr>
            <a:r>
              <a:rPr sz="1012" b="0">
                <a:solidFill>
                  <a:srgbClr val="1F293A"/>
                </a:solidFill>
                <a:latin typeface="Inter"/>
              </a:rPr>
              <a:t>Blackjack: basic strategy. Poker: gra oparta na sile ręki.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4298" y="2762249"/>
            <a:ext cx="3441613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975" b="1">
                <a:solidFill>
                  <a:srgbClr val="4F46E5"/>
                </a:solidFill>
                <a:latin typeface="JetBrains Mono"/>
              </a:rPr>
              <a:t>HARD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75" b="1">
                <a:solidFill>
                  <a:srgbClr val="0B0F1E"/>
                </a:solidFill>
                <a:latin typeface="Inter"/>
              </a:rPr>
              <a:t>Deep RL</a:t>
            </a:r>
          </a:p>
          <a:p>
            <a:pPr algn="l">
              <a:lnSpc>
                <a:spcPct val="145000"/>
              </a:lnSpc>
            </a:pPr>
            <a:r>
              <a:rPr sz="1012" b="0">
                <a:solidFill>
                  <a:srgbClr val="1F293A"/>
                </a:solidFill>
                <a:latin typeface="Inter"/>
              </a:rPr>
              <a:t>Polityka PPO/DQN/Q-Learning, uczona na symulacjach. Z miękkim fallbackiem, gdy brak wag.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782" y="5143500"/>
            <a:ext cx="28574" cy="571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228" y="5143500"/>
            <a:ext cx="9620009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5" b="0">
                <a:solidFill>
                  <a:srgbClr val="1F293A"/>
                </a:solidFill>
                <a:latin typeface="Inter"/>
              </a:rPr>
              <a:t>Polityki są cache'owane per (gra, trudność) — model ładuje się raz i jest współdzielony przez wszystkie stoły.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782" y="6457950"/>
            <a:ext cx="571485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Inter"/>
              </a:rPr>
              <a:t>INTELIGENTNE KASYNO · PROJEKT ZESPOŁOWY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1055" y="6457950"/>
            <a:ext cx="571485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Inter"/>
              </a:rPr>
              <a:t>POZIOMY TRUDNOŚCI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9049" y="-19050"/>
            <a:ext cx="12229794" cy="68960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782" y="476249"/>
            <a:ext cx="6667333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1">
                <a:solidFill>
                  <a:srgbClr val="0B0F1E"/>
                </a:solidFill>
                <a:latin typeface="Inter"/>
              </a:rPr>
              <a:t>INTELIGENTNE KASYNO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25" b="1">
                <a:solidFill>
                  <a:srgbClr val="4F46E5"/>
                </a:solidFill>
                <a:latin typeface="Inter"/>
              </a:rPr>
              <a:t>07 / TRENING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3" y="476249"/>
            <a:ext cx="483857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825" b="0">
                <a:solidFill>
                  <a:srgbClr val="64748B"/>
                </a:solidFill>
                <a:latin typeface="Inter"/>
              </a:rPr>
              <a:t>Inteligentne Kasyno · Inżynieria oprogramowania</a:t>
            </a:r>
          </a:p>
          <a:p>
            <a:pPr algn="r">
              <a:lnSpc>
                <a:spcPct val="140000"/>
              </a:lnSpc>
            </a:pPr>
            <a:r>
              <a:rPr sz="825" b="0">
                <a:solidFill>
                  <a:srgbClr val="64748B"/>
                </a:solidFill>
                <a:latin typeface="Inter"/>
              </a:rPr>
              <a:t>Czerwiec 2026 · 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782" y="1428750"/>
            <a:ext cx="10477238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1">
                <a:solidFill>
                  <a:srgbClr val="0B0F1E"/>
                </a:solidFill>
                <a:latin typeface="Inter"/>
              </a:rPr>
              <a:t>Jak powstają agenci.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782" y="2076449"/>
            <a:ext cx="9334266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Osobne środowisko treningowe (/rl_training) z eksportem wag do inferencji.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782" y="2762249"/>
            <a:ext cx="3441613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975" b="1">
                <a:solidFill>
                  <a:srgbClr val="4F46E5"/>
                </a:solidFill>
                <a:latin typeface="JetBrains Mono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75" b="1">
                <a:solidFill>
                  <a:srgbClr val="0B0F1E"/>
                </a:solidFill>
                <a:latin typeface="Inter"/>
              </a:rPr>
              <a:t>Środowiska</a:t>
            </a:r>
          </a:p>
          <a:p>
            <a:pPr algn="l">
              <a:lnSpc>
                <a:spcPct val="145000"/>
              </a:lnSpc>
            </a:pPr>
            <a:r>
              <a:rPr sz="1012" b="0">
                <a:solidFill>
                  <a:srgbClr val="1F293A"/>
                </a:solidFill>
                <a:latin typeface="Inter"/>
              </a:rPr>
              <a:t>Symulatory blackjacka i pokera w stylu Gymnasium — pełne reguły, nagroda za wynik rundy.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75040" y="2762249"/>
            <a:ext cx="3441613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975" b="1">
                <a:solidFill>
                  <a:srgbClr val="4F46E5"/>
                </a:solidFill>
                <a:latin typeface="JetBrains Mono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75" b="1">
                <a:solidFill>
                  <a:srgbClr val="0B0F1E"/>
                </a:solidFill>
                <a:latin typeface="Inter"/>
              </a:rPr>
              <a:t>Trening</a:t>
            </a:r>
          </a:p>
          <a:p>
            <a:pPr algn="l">
              <a:lnSpc>
                <a:spcPct val="145000"/>
              </a:lnSpc>
            </a:pPr>
            <a:r>
              <a:rPr sz="1012" b="0">
                <a:solidFill>
                  <a:srgbClr val="1F293A"/>
                </a:solidFill>
                <a:latin typeface="Inter"/>
              </a:rPr>
              <a:t>Q-Learning (tabela) dla prostych stanów, PPO/DQN (deep RL) dla pokera.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4298" y="2762249"/>
            <a:ext cx="3441613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975" b="1">
                <a:solidFill>
                  <a:srgbClr val="4F46E5"/>
                </a:solidFill>
                <a:latin typeface="JetBrains Mono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75" b="1">
                <a:solidFill>
                  <a:srgbClr val="0B0F1E"/>
                </a:solidFill>
                <a:latin typeface="Inter"/>
              </a:rPr>
              <a:t>Wdrożenie</a:t>
            </a:r>
          </a:p>
          <a:p>
            <a:pPr algn="l">
              <a:lnSpc>
                <a:spcPct val="145000"/>
              </a:lnSpc>
            </a:pPr>
            <a:r>
              <a:rPr sz="1012" b="0">
                <a:solidFill>
                  <a:srgbClr val="1F293A"/>
                </a:solidFill>
                <a:latin typeface="Inter"/>
              </a:rPr>
              <a:t>Wagi z /saved_models ładuje rejestr; brak torch → graceful fallback.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782" y="5143500"/>
            <a:ext cx="28574" cy="571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228" y="5143500"/>
            <a:ext cx="9620009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5" b="0">
                <a:solidFill>
                  <a:srgbClr val="1F293A"/>
                </a:solidFill>
                <a:latin typeface="Inter"/>
              </a:rPr>
              <a:t>Aplikacja nigdy nie zależy twardo od PyTorcha — gdy modelu brak, bot schodzi do heurystyki i gra dalej.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782" y="6457950"/>
            <a:ext cx="571485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Inter"/>
              </a:rPr>
              <a:t>INTELIGENTNE KASYNO · PROJEKT ZESPOŁOWY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1055" y="6457950"/>
            <a:ext cx="571485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Inter"/>
              </a:rPr>
              <a:t>JAK POWSTAJĄ AGENCI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9049" y="-19050"/>
            <a:ext cx="12229794" cy="68960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782" y="476249"/>
            <a:ext cx="6667333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1">
                <a:solidFill>
                  <a:srgbClr val="0B0F1E"/>
                </a:solidFill>
                <a:latin typeface="Inter"/>
              </a:rPr>
              <a:t>INTELIGENTNE KASYNO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25" b="1">
                <a:solidFill>
                  <a:srgbClr val="4F46E5"/>
                </a:solidFill>
                <a:latin typeface="Inter"/>
              </a:rPr>
              <a:t>08 / REAL-TIME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3" y="476249"/>
            <a:ext cx="483857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825" b="0">
                <a:solidFill>
                  <a:srgbClr val="64748B"/>
                </a:solidFill>
                <a:latin typeface="Inter"/>
              </a:rPr>
              <a:t>Inteligentne Kasyno · Inżynieria oprogramowania</a:t>
            </a:r>
          </a:p>
          <a:p>
            <a:pPr algn="r">
              <a:lnSpc>
                <a:spcPct val="140000"/>
              </a:lnSpc>
            </a:pPr>
            <a:r>
              <a:rPr sz="825" b="0">
                <a:solidFill>
                  <a:srgbClr val="64748B"/>
                </a:solidFill>
                <a:latin typeface="Inter"/>
              </a:rPr>
              <a:t>Czerwiec 2026 · 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782" y="1428750"/>
            <a:ext cx="10477238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1">
                <a:solidFill>
                  <a:srgbClr val="0B0F1E"/>
                </a:solidFill>
                <a:latin typeface="Inter"/>
              </a:rPr>
              <a:t>Rozgrywka w czasie rzeczywistym.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782" y="2381250"/>
            <a:ext cx="5248143" cy="2428875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377" y="2590799"/>
            <a:ext cx="4790955" cy="2047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825" b="1">
                <a:solidFill>
                  <a:srgbClr val="4F46E5"/>
                </a:solidFill>
                <a:latin typeface="Inter"/>
              </a:rPr>
              <a:t>WEBSOCKETS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12" b="1">
                <a:solidFill>
                  <a:srgbClr val="4F46E5"/>
                </a:solidFill>
                <a:latin typeface="Inter"/>
              </a:rPr>
              <a:t>·  </a:t>
            </a:r>
            <a:r>
              <a:rPr sz="1012" b="0">
                <a:solidFill>
                  <a:srgbClr val="1F293A"/>
                </a:solidFill>
                <a:latin typeface="Inter"/>
              </a:rPr>
              <a:t>Stan stołu pushowany do graczy na żywo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12" b="1">
                <a:solidFill>
                  <a:srgbClr val="4F46E5"/>
                </a:solidFill>
                <a:latin typeface="Inter"/>
              </a:rPr>
              <a:t>·  </a:t>
            </a:r>
            <a:r>
              <a:rPr sz="1012" b="0">
                <a:solidFill>
                  <a:srgbClr val="1F293A"/>
                </a:solidFill>
                <a:latin typeface="Inter"/>
              </a:rPr>
              <a:t>Autoryzacja przez jednorazowy ticket w Redisie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12" b="1">
                <a:solidFill>
                  <a:srgbClr val="4F46E5"/>
                </a:solidFill>
                <a:latin typeface="Inter"/>
              </a:rPr>
              <a:t>·  </a:t>
            </a:r>
            <a:r>
              <a:rPr sz="1012" b="0">
                <a:solidFill>
                  <a:srgbClr val="1F293A"/>
                </a:solidFill>
                <a:latin typeface="Inter"/>
              </a:rPr>
              <a:t>Osobne kanały: poker oraz blackjack / ruletka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7768" y="2381250"/>
            <a:ext cx="5248143" cy="2428875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6362" y="2590799"/>
            <a:ext cx="4790955" cy="2047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825" b="1">
                <a:solidFill>
                  <a:srgbClr val="4F46E5"/>
                </a:solidFill>
                <a:latin typeface="Inter"/>
              </a:rPr>
              <a:t>GORĄCY STAN W REDISIE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12" b="1">
                <a:solidFill>
                  <a:srgbClr val="4F46E5"/>
                </a:solidFill>
                <a:latin typeface="Inter"/>
              </a:rPr>
              <a:t>·  </a:t>
            </a:r>
            <a:r>
              <a:rPr sz="1012" b="0">
                <a:solidFill>
                  <a:srgbClr val="1F293A"/>
                </a:solidFill>
                <a:latin typeface="Inter"/>
              </a:rPr>
              <a:t>Rozdanie i stan rundy w pamięci (O(1))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12" b="1">
                <a:solidFill>
                  <a:srgbClr val="4F46E5"/>
                </a:solidFill>
                <a:latin typeface="Inter"/>
              </a:rPr>
              <a:t>·  </a:t>
            </a:r>
            <a:r>
              <a:rPr sz="1012" b="0">
                <a:solidFill>
                  <a:srgbClr val="1F293A"/>
                </a:solidFill>
                <a:latin typeface="Inter"/>
              </a:rPr>
              <a:t>Bot odczytuje stan z Redisa na każdym kroku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12" b="1">
                <a:solidFill>
                  <a:srgbClr val="4F46E5"/>
                </a:solidFill>
                <a:latin typeface="Inter"/>
              </a:rPr>
              <a:t>·  </a:t>
            </a:r>
            <a:r>
              <a:rPr sz="1012" b="0">
                <a:solidFill>
                  <a:srgbClr val="1F293A"/>
                </a:solidFill>
                <a:latin typeface="Inter"/>
              </a:rPr>
              <a:t>Brak obciążenia PostgreSQL przy każdym ruchu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782" y="5048250"/>
            <a:ext cx="28574" cy="571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228" y="5048250"/>
            <a:ext cx="9620009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5" b="0">
                <a:solidFill>
                  <a:srgbClr val="1F293A"/>
                </a:solidFill>
                <a:latin typeface="Inter"/>
              </a:rPr>
              <a:t>Setki ruchów na minutę nie dotykają bazy relacyjnej — ta zapisuje tylko wynik rundy i portfel.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782" y="6457950"/>
            <a:ext cx="571485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Inter"/>
              </a:rPr>
              <a:t>INTELIGENTNE KASYNO · PROJEKT ZESPOŁOWY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1055" y="6457950"/>
            <a:ext cx="571485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Inter"/>
              </a:rPr>
              <a:t>CZAS RZECZYWISTY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9049" y="-19050"/>
            <a:ext cx="12229794" cy="68960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782" y="476249"/>
            <a:ext cx="6667333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1">
                <a:solidFill>
                  <a:srgbClr val="0B0F1E"/>
                </a:solidFill>
                <a:latin typeface="Inter"/>
              </a:rPr>
              <a:t>INTELIGENTNE KASYNO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25" b="1">
                <a:solidFill>
                  <a:srgbClr val="4F46E5"/>
                </a:solidFill>
                <a:latin typeface="Inter"/>
              </a:rPr>
              <a:t>09 / PORTFEL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3" y="476249"/>
            <a:ext cx="483857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825" b="0">
                <a:solidFill>
                  <a:srgbClr val="64748B"/>
                </a:solidFill>
                <a:latin typeface="Inter"/>
              </a:rPr>
              <a:t>Inteligentne Kasyno · Inżynieria oprogramowania</a:t>
            </a:r>
          </a:p>
          <a:p>
            <a:pPr algn="r">
              <a:lnSpc>
                <a:spcPct val="140000"/>
              </a:lnSpc>
            </a:pPr>
            <a:r>
              <a:rPr sz="825" b="0">
                <a:solidFill>
                  <a:srgbClr val="64748B"/>
                </a:solidFill>
                <a:latin typeface="Inter"/>
              </a:rPr>
              <a:t>Czerwiec 2026 · 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782" y="1428750"/>
            <a:ext cx="10477238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1">
                <a:solidFill>
                  <a:srgbClr val="0B0F1E"/>
                </a:solidFill>
                <a:latin typeface="Inter"/>
              </a:rPr>
              <a:t>Portfel, płatności i retencja.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782" y="2381250"/>
            <a:ext cx="5248143" cy="2428875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377" y="2590799"/>
            <a:ext cx="4790955" cy="2047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825" b="1">
                <a:solidFill>
                  <a:srgbClr val="4F46E5"/>
                </a:solidFill>
                <a:latin typeface="Inter"/>
              </a:rPr>
              <a:t>PŁATNOŚCI — STRIPE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12" b="1">
                <a:solidFill>
                  <a:srgbClr val="4F46E5"/>
                </a:solidFill>
                <a:latin typeface="Inter"/>
              </a:rPr>
              <a:t>·  </a:t>
            </a:r>
            <a:r>
              <a:rPr sz="1012" b="0">
                <a:solidFill>
                  <a:srgbClr val="1F293A"/>
                </a:solidFill>
                <a:latin typeface="Inter"/>
              </a:rPr>
              <a:t>Stripe Checkout na doładowanie żetonów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12" b="1">
                <a:solidFill>
                  <a:srgbClr val="4F46E5"/>
                </a:solidFill>
                <a:latin typeface="Inter"/>
              </a:rPr>
              <a:t>·  </a:t>
            </a:r>
            <a:r>
              <a:rPr sz="1012" b="0">
                <a:solidFill>
                  <a:srgbClr val="1F293A"/>
                </a:solidFill>
                <a:latin typeface="Inter"/>
              </a:rPr>
              <a:t>Realizacja przez webhook checkout.session.completed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12" b="1">
                <a:solidFill>
                  <a:srgbClr val="4F46E5"/>
                </a:solidFill>
                <a:latin typeface="Inter"/>
              </a:rPr>
              <a:t>·  </a:t>
            </a:r>
            <a:r>
              <a:rPr sz="1012" b="0">
                <a:solidFill>
                  <a:srgbClr val="1F293A"/>
                </a:solidFill>
                <a:latin typeface="Inter"/>
              </a:rPr>
              <a:t>Tryb symulacji bez kluczy — działa lokalnie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7768" y="2381250"/>
            <a:ext cx="5248143" cy="2428875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6362" y="2590799"/>
            <a:ext cx="4790955" cy="2047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825" b="1">
                <a:solidFill>
                  <a:srgbClr val="4F46E5"/>
                </a:solidFill>
                <a:latin typeface="Inter"/>
              </a:rPr>
              <a:t>RETENCJA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12" b="1">
                <a:solidFill>
                  <a:srgbClr val="4F46E5"/>
                </a:solidFill>
                <a:latin typeface="Inter"/>
              </a:rPr>
              <a:t>·  </a:t>
            </a:r>
            <a:r>
              <a:rPr sz="1012" b="0">
                <a:solidFill>
                  <a:srgbClr val="1F293A"/>
                </a:solidFill>
                <a:latin typeface="Inter"/>
              </a:rPr>
              <a:t>Bonus powitalny przy rejestracji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12" b="1">
                <a:solidFill>
                  <a:srgbClr val="4F46E5"/>
                </a:solidFill>
                <a:latin typeface="Inter"/>
              </a:rPr>
              <a:t>·  </a:t>
            </a:r>
            <a:r>
              <a:rPr sz="1012" b="0">
                <a:solidFill>
                  <a:srgbClr val="1F293A"/>
                </a:solidFill>
                <a:latin typeface="Inter"/>
              </a:rPr>
              <a:t>Bad-beat bonus za pechowe przegrane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12" b="1">
                <a:solidFill>
                  <a:srgbClr val="4F46E5"/>
                </a:solidFill>
                <a:latin typeface="Inter"/>
              </a:rPr>
              <a:t>·  </a:t>
            </a:r>
            <a:r>
              <a:rPr sz="1012" b="0">
                <a:solidFill>
                  <a:srgbClr val="1F293A"/>
                </a:solidFill>
                <a:latin typeface="Inter"/>
              </a:rPr>
              <a:t>Historia transakcji i poziom bonusów w portfelu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782" y="5048250"/>
            <a:ext cx="28574" cy="571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228" y="5048250"/>
            <a:ext cx="9620009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5" b="0">
                <a:solidFill>
                  <a:srgbClr val="1F293A"/>
                </a:solidFill>
                <a:latin typeface="Inter"/>
              </a:rPr>
              <a:t>Portfel jest transakcyjny (ACID) — każdy zakład, wygrana i bonus to wpis w historii.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782" y="6457950"/>
            <a:ext cx="571485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Inter"/>
              </a:rPr>
              <a:t>INTELIGENTNE KASYNO · PROJEKT ZESPOŁOWY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1055" y="6457950"/>
            <a:ext cx="571485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Inter"/>
              </a:rPr>
              <a:t>PŁATNOŚCI I RETENCJA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9049" y="-19050"/>
            <a:ext cx="12229794" cy="68960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782" y="476249"/>
            <a:ext cx="6667333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1">
                <a:solidFill>
                  <a:srgbClr val="0B0F1E"/>
                </a:solidFill>
                <a:latin typeface="Inter"/>
              </a:rPr>
              <a:t>INTELIGENTNE KASYNO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25" b="1">
                <a:solidFill>
                  <a:srgbClr val="4F46E5"/>
                </a:solidFill>
                <a:latin typeface="Inter"/>
              </a:rPr>
              <a:t>10 / WDROŻENIE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3" y="476249"/>
            <a:ext cx="483857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825" b="0">
                <a:solidFill>
                  <a:srgbClr val="64748B"/>
                </a:solidFill>
                <a:latin typeface="Inter"/>
              </a:rPr>
              <a:t>Inteligentne Kasyno · Inżynieria oprogramowania</a:t>
            </a:r>
          </a:p>
          <a:p>
            <a:pPr algn="r">
              <a:lnSpc>
                <a:spcPct val="140000"/>
              </a:lnSpc>
            </a:pPr>
            <a:r>
              <a:rPr sz="825" b="0">
                <a:solidFill>
                  <a:srgbClr val="64748B"/>
                </a:solidFill>
                <a:latin typeface="Inter"/>
              </a:rPr>
              <a:t>Czerwiec 2026 · 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782" y="1428750"/>
            <a:ext cx="10477238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1">
                <a:solidFill>
                  <a:srgbClr val="0B0F1E"/>
                </a:solidFill>
                <a:latin typeface="Inter"/>
              </a:rPr>
              <a:t>Od kodu do działającej chmury.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782" y="2381250"/>
            <a:ext cx="3441613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975" b="1">
                <a:solidFill>
                  <a:srgbClr val="4F46E5"/>
                </a:solidFill>
                <a:latin typeface="JetBrains Mono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75" b="1">
                <a:solidFill>
                  <a:srgbClr val="0B0F1E"/>
                </a:solidFill>
                <a:latin typeface="Inter"/>
              </a:rPr>
              <a:t>Docker</a:t>
            </a:r>
          </a:p>
          <a:p>
            <a:pPr algn="l">
              <a:lnSpc>
                <a:spcPct val="145000"/>
              </a:lnSpc>
            </a:pPr>
            <a:r>
              <a:rPr sz="1012" b="0">
                <a:solidFill>
                  <a:srgbClr val="1F293A"/>
                </a:solidFill>
                <a:latin typeface="Inter"/>
              </a:rPr>
              <a:t>Cały stos w Docker Compose: backend, frontend, Postgres, Redis.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75040" y="2381250"/>
            <a:ext cx="3441613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975" b="1">
                <a:solidFill>
                  <a:srgbClr val="4F46E5"/>
                </a:solidFill>
                <a:latin typeface="JetBrains Mono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75" b="1">
                <a:solidFill>
                  <a:srgbClr val="0B0F1E"/>
                </a:solidFill>
                <a:latin typeface="Inter"/>
              </a:rPr>
              <a:t>Render</a:t>
            </a:r>
          </a:p>
          <a:p>
            <a:pPr algn="l">
              <a:lnSpc>
                <a:spcPct val="145000"/>
              </a:lnSpc>
            </a:pPr>
            <a:r>
              <a:rPr sz="1012" b="0">
                <a:solidFill>
                  <a:srgbClr val="1F293A"/>
                </a:solidFill>
                <a:latin typeface="Inter"/>
              </a:rPr>
              <a:t>Blueprint render.yaml stawia 4 zasoby na darmowym tierze, jeden region.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64298" y="2381250"/>
            <a:ext cx="3441613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975" b="1">
                <a:solidFill>
                  <a:srgbClr val="4F46E5"/>
                </a:solidFill>
                <a:latin typeface="JetBrains Mono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75" b="1">
                <a:solidFill>
                  <a:srgbClr val="0B0F1E"/>
                </a:solidFill>
                <a:latin typeface="Inter"/>
              </a:rPr>
              <a:t>Migracje</a:t>
            </a:r>
          </a:p>
          <a:p>
            <a:pPr algn="l">
              <a:lnSpc>
                <a:spcPct val="145000"/>
              </a:lnSpc>
            </a:pPr>
            <a:r>
              <a:rPr sz="1012" b="0">
                <a:solidFill>
                  <a:srgbClr val="1F293A"/>
                </a:solidFill>
                <a:latin typeface="Inter"/>
              </a:rPr>
              <a:t>Start kontenera robi alembic upgrade i wstaje na $PORT — jeden krok.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782" y="5143500"/>
            <a:ext cx="28574" cy="571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7228" y="5143500"/>
            <a:ext cx="9620009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5" b="0">
                <a:solidFill>
                  <a:srgbClr val="1F293A"/>
                </a:solidFill>
                <a:latin typeface="Inter"/>
              </a:rPr>
              <a:t>Aplikacja działa na żywo na Render (frankfurt); frontend proxuje /api i /ws do backendu — ten sam origin.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782" y="6457950"/>
            <a:ext cx="571485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Inter"/>
              </a:rPr>
              <a:t>INTELIGENTNE KASYNO · PROJEKT ZESPOŁOWY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91055" y="6457950"/>
            <a:ext cx="571485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Inter"/>
              </a:rPr>
              <a:t>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9049" y="-19050"/>
            <a:ext cx="12229794" cy="68960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782" y="476249"/>
            <a:ext cx="6667333" cy="476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1">
                <a:solidFill>
                  <a:srgbClr val="0B0F1E"/>
                </a:solidFill>
                <a:latin typeface="Inter"/>
              </a:rPr>
              <a:t>INTELIGENTNE KASYNO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25" b="1">
                <a:solidFill>
                  <a:srgbClr val="4F46E5"/>
                </a:solidFill>
                <a:latin typeface="Inter"/>
              </a:rPr>
              <a:t>11 / CO DALEJ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3" y="476249"/>
            <a:ext cx="483857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825" b="0">
                <a:solidFill>
                  <a:srgbClr val="64748B"/>
                </a:solidFill>
                <a:latin typeface="Inter"/>
              </a:rPr>
              <a:t>Inteligentne Kasyno · Inżynieria oprogramowania</a:t>
            </a:r>
          </a:p>
          <a:p>
            <a:pPr algn="r">
              <a:lnSpc>
                <a:spcPct val="140000"/>
              </a:lnSpc>
            </a:pPr>
            <a:r>
              <a:rPr sz="825" b="0">
                <a:solidFill>
                  <a:srgbClr val="64748B"/>
                </a:solidFill>
                <a:latin typeface="Inter"/>
              </a:rPr>
              <a:t>Czerwiec 2026 · 12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782" y="1143000"/>
            <a:ext cx="10477238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50" b="1">
                <a:solidFill>
                  <a:srgbClr val="0B0F1E"/>
                </a:solidFill>
                <a:latin typeface="Inter"/>
              </a:rPr>
              <a:t>Co dalej.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782" y="1809749"/>
            <a:ext cx="3416214" cy="2047874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377" y="2019299"/>
            <a:ext cx="2959026" cy="1666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825" b="1">
                <a:solidFill>
                  <a:srgbClr val="4F46E5"/>
                </a:solidFill>
                <a:latin typeface="Inter"/>
              </a:rPr>
              <a:t>TERAZ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12" b="1">
                <a:solidFill>
                  <a:srgbClr val="4F46E5"/>
                </a:solidFill>
                <a:latin typeface="Inter"/>
              </a:rPr>
              <a:t>·  </a:t>
            </a:r>
            <a:r>
              <a:rPr sz="1012" b="0">
                <a:solidFill>
                  <a:srgbClr val="1F293A"/>
                </a:solidFill>
                <a:latin typeface="Inter"/>
              </a:rPr>
              <a:t>Trzy grywalne gry z botami RL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12" b="1">
                <a:solidFill>
                  <a:srgbClr val="4F46E5"/>
                </a:solidFill>
                <a:latin typeface="Inter"/>
              </a:rPr>
              <a:t>·  </a:t>
            </a:r>
            <a:r>
              <a:rPr sz="1012" b="0">
                <a:solidFill>
                  <a:srgbClr val="1F293A"/>
                </a:solidFill>
                <a:latin typeface="Inter"/>
              </a:rPr>
              <a:t>Portfel, płatności, retencja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12" b="1">
                <a:solidFill>
                  <a:srgbClr val="4F46E5"/>
                </a:solidFill>
                <a:latin typeface="Inter"/>
              </a:rPr>
              <a:t>·  </a:t>
            </a:r>
            <a:r>
              <a:rPr sz="1012" b="0">
                <a:solidFill>
                  <a:srgbClr val="1F293A"/>
                </a:solidFill>
                <a:latin typeface="Inter"/>
              </a:rPr>
              <a:t>Wdrożone i działające w chmurze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7740" y="1809749"/>
            <a:ext cx="3416214" cy="2047874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6334" y="2019299"/>
            <a:ext cx="2959026" cy="1666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825" b="1">
                <a:solidFill>
                  <a:srgbClr val="4F46E5"/>
                </a:solidFill>
                <a:latin typeface="Inter"/>
              </a:rPr>
              <a:t>NASTĘPNE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12" b="1">
                <a:solidFill>
                  <a:srgbClr val="4F46E5"/>
                </a:solidFill>
                <a:latin typeface="Inter"/>
              </a:rPr>
              <a:t>·  </a:t>
            </a:r>
            <a:r>
              <a:rPr sz="1012" b="0">
                <a:solidFill>
                  <a:srgbClr val="1F293A"/>
                </a:solidFill>
                <a:latin typeface="Inter"/>
              </a:rPr>
              <a:t>Silniejsi agenci pokera (więcej PPO)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12" b="1">
                <a:solidFill>
                  <a:srgbClr val="4F46E5"/>
                </a:solidFill>
                <a:latin typeface="Inter"/>
              </a:rPr>
              <a:t>·  </a:t>
            </a:r>
            <a:r>
              <a:rPr sz="1012" b="0">
                <a:solidFill>
                  <a:srgbClr val="1F293A"/>
                </a:solidFill>
                <a:latin typeface="Inter"/>
              </a:rPr>
              <a:t>Statystyki i tabela wyników graczy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12" b="1">
                <a:solidFill>
                  <a:srgbClr val="4F46E5"/>
                </a:solidFill>
                <a:latin typeface="Inter"/>
              </a:rPr>
              <a:t>·  </a:t>
            </a:r>
            <a:r>
              <a:rPr sz="1012" b="0">
                <a:solidFill>
                  <a:srgbClr val="1F293A"/>
                </a:solidFill>
                <a:latin typeface="Inter"/>
              </a:rPr>
              <a:t>Telemetria i tuning trudności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9697" y="1809749"/>
            <a:ext cx="3416214" cy="2047874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12700">
            <a:solidFill>
              <a:srgbClr val="E6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8292" y="2019299"/>
            <a:ext cx="2959026" cy="1666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825" b="1">
                <a:solidFill>
                  <a:srgbClr val="4F46E5"/>
                </a:solidFill>
                <a:latin typeface="Inter"/>
              </a:rPr>
              <a:t>PÓŹNIEJ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12" b="1">
                <a:solidFill>
                  <a:srgbClr val="4F46E5"/>
                </a:solidFill>
                <a:latin typeface="Inter"/>
              </a:rPr>
              <a:t>·  </a:t>
            </a:r>
            <a:r>
              <a:rPr sz="1012" b="0">
                <a:solidFill>
                  <a:srgbClr val="1F293A"/>
                </a:solidFill>
                <a:latin typeface="Inter"/>
              </a:rPr>
              <a:t>Więcej gier i wariantów stołów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12" b="1">
                <a:solidFill>
                  <a:srgbClr val="4F46E5"/>
                </a:solidFill>
                <a:latin typeface="Inter"/>
              </a:rPr>
              <a:t>·  </a:t>
            </a:r>
            <a:r>
              <a:rPr sz="1012" b="0">
                <a:solidFill>
                  <a:srgbClr val="1F293A"/>
                </a:solidFill>
                <a:latin typeface="Inter"/>
              </a:rPr>
              <a:t>Tryb turniejowy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12" b="1">
                <a:solidFill>
                  <a:srgbClr val="4F46E5"/>
                </a:solidFill>
                <a:latin typeface="Inter"/>
              </a:rPr>
              <a:t>·  </a:t>
            </a:r>
            <a:r>
              <a:rPr sz="1012" b="0">
                <a:solidFill>
                  <a:srgbClr val="1F293A"/>
                </a:solidFill>
                <a:latin typeface="Inter"/>
              </a:rPr>
              <a:t>Personalizacja bonusów per gracz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782" y="4190999"/>
            <a:ext cx="9524761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50" b="1">
                <a:solidFill>
                  <a:srgbClr val="0B0F1E"/>
                </a:solidFill>
                <a:latin typeface="Inter"/>
              </a:rPr>
              <a:t>Dziękujemy.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782" y="4952999"/>
            <a:ext cx="9524761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Demo na żywo: kasyno-jb-frontend.onrender.com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782" y="6457950"/>
            <a:ext cx="571485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Inter"/>
              </a:rPr>
              <a:t>INTELIGENTNE KASYNO · PROJEKT ZESPOŁOWY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1055" y="6457950"/>
            <a:ext cx="571485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4748B"/>
                </a:solidFill>
                <a:latin typeface="Inter"/>
              </a:rPr>
              <a:t>PODSUMOWANIE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